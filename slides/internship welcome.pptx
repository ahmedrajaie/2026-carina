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6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88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4E3B7-ED89-4136-1812-0275B0166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E0E98-368B-8F08-524E-31C3F3976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CE4C7-72D8-1C35-B703-ABC9A7085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7BBB8-DAF7-A79C-F4F5-ABA46F3F32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7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8F7B2-7126-15ED-D0FE-53595D66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92AC4-A93C-D452-6AAB-FAE5E38CB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FA03A-E173-E33C-8F6F-8C08CEBCF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6A0A1-7ED3-8D97-7FF9-7259CD0D4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53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Nobody%20knows%20what%20happens%20next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EFG HOLDING  ·  DATA SCIENCE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371600" y="37947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Trading Internship — 2026 Cohort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E134077-E128-8A80-81ED-CF7921C7202B}"/>
              </a:ext>
            </a:extLst>
          </p:cNvPr>
          <p:cNvGrpSpPr/>
          <p:nvPr/>
        </p:nvGrpSpPr>
        <p:grpSpPr>
          <a:xfrm>
            <a:off x="923286" y="826389"/>
            <a:ext cx="1188720" cy="1188720"/>
            <a:chOff x="548640" y="1371600"/>
            <a:chExt cx="1188720" cy="1188720"/>
          </a:xfrm>
        </p:grpSpPr>
        <p:sp>
          <p:nvSpPr>
            <p:cNvPr id="3" name="Shape 1"/>
            <p:cNvSpPr/>
            <p:nvPr/>
          </p:nvSpPr>
          <p:spPr>
            <a:xfrm>
              <a:off x="548640" y="1371600"/>
              <a:ext cx="1188720" cy="1188720"/>
            </a:xfrm>
            <a:prstGeom prst="ellipse">
              <a:avLst/>
            </a:prstGeom>
            <a:solidFill>
              <a:srgbClr val="C9A84C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707" y="1680667"/>
              <a:ext cx="570586" cy="570586"/>
            </a:xfrm>
            <a:prstGeom prst="rect">
              <a:avLst/>
            </a:prstGeom>
          </p:spPr>
        </p:pic>
      </p:grpSp>
      <p:sp>
        <p:nvSpPr>
          <p:cNvPr id="5" name="Text 2"/>
          <p:cNvSpPr/>
          <p:nvPr/>
        </p:nvSpPr>
        <p:spPr>
          <a:xfrm>
            <a:off x="1076577" y="2159019"/>
            <a:ext cx="4874895" cy="1269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Science Team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EFG Holding</a:t>
            </a:r>
            <a:endParaRPr lang="en-US" sz="34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6693452-0F0B-E0B4-88E4-D5F8B2563D15}"/>
              </a:ext>
            </a:extLst>
          </p:cNvPr>
          <p:cNvSpPr/>
          <p:nvPr/>
        </p:nvSpPr>
        <p:spPr>
          <a:xfrm>
            <a:off x="1076577" y="4048463"/>
            <a:ext cx="4251960" cy="198314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solidFill>
              <a:srgbClr val="D8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FDFBBA6-3032-416F-DA4C-5951F9EDFA2F}"/>
              </a:ext>
            </a:extLst>
          </p:cNvPr>
          <p:cNvSpPr/>
          <p:nvPr/>
        </p:nvSpPr>
        <p:spPr>
          <a:xfrm>
            <a:off x="1076577" y="4048463"/>
            <a:ext cx="425196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CFA8D689-1CA5-2EA6-EE04-67F1F30D101A}"/>
              </a:ext>
            </a:extLst>
          </p:cNvPr>
          <p:cNvSpPr/>
          <p:nvPr/>
        </p:nvSpPr>
        <p:spPr>
          <a:xfrm>
            <a:off x="1241169" y="4213055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05321149-EF39-97E5-B262-B009CDF97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45" y="4249631"/>
            <a:ext cx="338328" cy="338328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FAC22B2D-4948-7CC0-5E38-087BA110D329}"/>
              </a:ext>
            </a:extLst>
          </p:cNvPr>
          <p:cNvSpPr/>
          <p:nvPr/>
        </p:nvSpPr>
        <p:spPr>
          <a:xfrm>
            <a:off x="1762377" y="4213055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Operations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96080D16-3892-71E1-E7F5-032039569CE4}"/>
              </a:ext>
            </a:extLst>
          </p:cNvPr>
          <p:cNvSpPr/>
          <p:nvPr/>
        </p:nvSpPr>
        <p:spPr>
          <a:xfrm>
            <a:off x="1241169" y="4840181"/>
            <a:ext cx="3977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AI across every major business function — from document processing to customer analytics to operational workflows.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2400E2A-5A4F-8D26-3A6C-CE89C1757F96}"/>
              </a:ext>
            </a:extLst>
          </p:cNvPr>
          <p:cNvSpPr/>
          <p:nvPr/>
        </p:nvSpPr>
        <p:spPr>
          <a:xfrm>
            <a:off x="6658866" y="1520233"/>
            <a:ext cx="4251960" cy="198314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solidFill>
              <a:srgbClr val="D8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54937A00-A899-BF58-9B2B-7FD2BCF71C4C}"/>
              </a:ext>
            </a:extLst>
          </p:cNvPr>
          <p:cNvSpPr/>
          <p:nvPr/>
        </p:nvSpPr>
        <p:spPr>
          <a:xfrm>
            <a:off x="6658866" y="1520233"/>
            <a:ext cx="4251960" cy="54864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517A1507-ADC5-86FB-F840-943FE125BEFD}"/>
              </a:ext>
            </a:extLst>
          </p:cNvPr>
          <p:cNvSpPr/>
          <p:nvPr/>
        </p:nvSpPr>
        <p:spPr>
          <a:xfrm>
            <a:off x="6823458" y="1684825"/>
            <a:ext cx="411480" cy="41148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2BA15A3E-1899-8C1D-2FCA-BD57AC884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0034" y="1721401"/>
            <a:ext cx="338328" cy="338328"/>
          </a:xfrm>
          <a:prstGeom prst="rect">
            <a:avLst/>
          </a:prstGeom>
        </p:spPr>
      </p:pic>
      <p:sp>
        <p:nvSpPr>
          <p:cNvPr id="31" name="Text 23">
            <a:extLst>
              <a:ext uri="{FF2B5EF4-FFF2-40B4-BE49-F238E27FC236}">
                <a16:creationId xmlns:a16="http://schemas.microsoft.com/office/drawing/2014/main" id="{DC2291A7-627E-0C67-DECD-2A99698D89FF}"/>
              </a:ext>
            </a:extLst>
          </p:cNvPr>
          <p:cNvSpPr/>
          <p:nvPr/>
        </p:nvSpPr>
        <p:spPr>
          <a:xfrm>
            <a:off x="7344666" y="1684825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Enablement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64B146EA-9174-79BC-F726-C68A46C9401D}"/>
              </a:ext>
            </a:extLst>
          </p:cNvPr>
          <p:cNvSpPr/>
          <p:nvPr/>
        </p:nvSpPr>
        <p:spPr>
          <a:xfrm>
            <a:off x="6823458" y="2311951"/>
            <a:ext cx="3977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organization's capacity to use AI. Hands-on Copilot workshops, department by department — people leave the session using AI, and we track whether that sticks.</a:t>
            </a:r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A6A7344F-20C2-6EE1-2FC2-96CDE5D6BF5A}"/>
              </a:ext>
            </a:extLst>
          </p:cNvPr>
          <p:cNvSpPr/>
          <p:nvPr/>
        </p:nvSpPr>
        <p:spPr>
          <a:xfrm>
            <a:off x="6658866" y="4048463"/>
            <a:ext cx="4251960" cy="198314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solidFill>
              <a:srgbClr val="D8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27CDA0BA-F298-A876-D2E3-C06EF88B59F1}"/>
              </a:ext>
            </a:extLst>
          </p:cNvPr>
          <p:cNvSpPr/>
          <p:nvPr/>
        </p:nvSpPr>
        <p:spPr>
          <a:xfrm>
            <a:off x="6658866" y="4048463"/>
            <a:ext cx="425196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6494CD08-AB37-775D-07BF-E8D5C6D40560}"/>
              </a:ext>
            </a:extLst>
          </p:cNvPr>
          <p:cNvSpPr/>
          <p:nvPr/>
        </p:nvSpPr>
        <p:spPr>
          <a:xfrm>
            <a:off x="6823458" y="4213055"/>
            <a:ext cx="41148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DEDC85DA-29D4-570D-AF82-50F149B33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0034" y="4249631"/>
            <a:ext cx="338328" cy="338328"/>
          </a:xfrm>
          <a:prstGeom prst="rect">
            <a:avLst/>
          </a:prstGeom>
        </p:spPr>
      </p:pic>
      <p:sp>
        <p:nvSpPr>
          <p:cNvPr id="43" name="Text 13">
            <a:extLst>
              <a:ext uri="{FF2B5EF4-FFF2-40B4-BE49-F238E27FC236}">
                <a16:creationId xmlns:a16="http://schemas.microsoft.com/office/drawing/2014/main" id="{3692A0D6-9BA6-1E88-CB6B-4E675826639D}"/>
              </a:ext>
            </a:extLst>
          </p:cNvPr>
          <p:cNvSpPr/>
          <p:nvPr/>
        </p:nvSpPr>
        <p:spPr>
          <a:xfrm>
            <a:off x="7344666" y="4213055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Shift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AFEE34B8-8FD3-FDB3-1A02-C28637475E02}"/>
              </a:ext>
            </a:extLst>
          </p:cNvPr>
          <p:cNvSpPr/>
          <p:nvPr/>
        </p:nvSpPr>
        <p:spPr>
          <a:xfrm>
            <a:off x="6823458" y="4840181"/>
            <a:ext cx="3977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mechanical execution layer of operational roles with intelligent agents. EFG-owned, enterprise-grade.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97280" cy="109728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156545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32588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new, this time.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decided to try something different with this program: merge the core of what we do — data science — with what EFG Hermes is most famous for: </a:t>
            </a:r>
            <a:r>
              <a:rPr lang="en-US" sz="19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market.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4434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flavor you'll actually relate to.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3D5ED-DC5F-E478-02CA-EF91EC62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hlinkClick r:id="rId3" action="ppaction://hlinkfile"/>
            <a:extLst>
              <a:ext uri="{FF2B5EF4-FFF2-40B4-BE49-F238E27FC236}">
                <a16:creationId xmlns:a16="http://schemas.microsoft.com/office/drawing/2014/main" id="{648F47B7-131A-9AEB-E3D5-F80E9E8413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235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17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4E0FA55F-7E56-80D1-A68D-A148A55BB671}"/>
              </a:ext>
            </a:extLst>
          </p:cNvPr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INTERNSHIP</a:t>
            </a:r>
            <a:endParaRPr lang="en-US" sz="12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B0549DB-C6EF-0966-C92A-E36E250E20BE}"/>
              </a:ext>
            </a:extLst>
          </p:cNvPr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for right now. And skills for life.</a:t>
            </a:r>
            <a:endParaRPr lang="en-US" sz="320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99665F13-71E2-DBFF-76F6-71210A5418D8}"/>
              </a:ext>
            </a:extLst>
          </p:cNvPr>
          <p:cNvSpPr/>
          <p:nvPr/>
        </p:nvSpPr>
        <p:spPr>
          <a:xfrm>
            <a:off x="548640" y="2496312"/>
            <a:ext cx="11064240" cy="0"/>
          </a:xfrm>
          <a:prstGeom prst="line">
            <a:avLst/>
          </a:prstGeom>
          <a:noFill/>
          <a:ln w="12700">
            <a:solidFill>
              <a:srgbClr val="1E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8122B52B-DC4A-2518-AB95-D2108CF61D97}"/>
              </a:ext>
            </a:extLst>
          </p:cNvPr>
          <p:cNvSpPr/>
          <p:nvPr/>
        </p:nvSpPr>
        <p:spPr>
          <a:xfrm>
            <a:off x="548640" y="158467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14E23AF9-D531-D8FF-CFC7-054C62D14CC1}"/>
              </a:ext>
            </a:extLst>
          </p:cNvPr>
          <p:cNvSpPr/>
          <p:nvPr/>
        </p:nvSpPr>
        <p:spPr>
          <a:xfrm>
            <a:off x="1463040" y="1783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You'll learn new skills</a:t>
            </a:r>
            <a:endParaRPr lang="en-US" sz="17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546E68D3-FABD-DD77-66E3-3D235F19DB3C}"/>
              </a:ext>
            </a:extLst>
          </p:cNvPr>
          <p:cNvSpPr/>
          <p:nvPr/>
        </p:nvSpPr>
        <p:spPr>
          <a:xfrm>
            <a:off x="5852160" y="178308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programmer, and as a data scientist — real tools, used the way professionals use them.</a:t>
            </a: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version control, full-stack development, vibe coding, deep learning</a:t>
            </a:r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45AD600D-5CA2-27B7-3BA0-F4DB927DE2E6}"/>
              </a:ext>
            </a:extLst>
          </p:cNvPr>
          <p:cNvSpPr/>
          <p:nvPr/>
        </p:nvSpPr>
        <p:spPr>
          <a:xfrm>
            <a:off x="548640" y="3429000"/>
            <a:ext cx="11064240" cy="0"/>
          </a:xfrm>
          <a:prstGeom prst="line">
            <a:avLst/>
          </a:prstGeom>
          <a:noFill/>
          <a:ln w="12700">
            <a:solidFill>
              <a:srgbClr val="1E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47D7EDCC-376B-E94E-A3C4-1CE0963A737E}"/>
              </a:ext>
            </a:extLst>
          </p:cNvPr>
          <p:cNvSpPr/>
          <p:nvPr/>
        </p:nvSpPr>
        <p:spPr>
          <a:xfrm>
            <a:off x="548640" y="251736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92DF6152-CB1B-1EDE-3A12-4B50795C527A}"/>
              </a:ext>
            </a:extLst>
          </p:cNvPr>
          <p:cNvSpPr/>
          <p:nvPr/>
        </p:nvSpPr>
        <p:spPr>
          <a:xfrm>
            <a:off x="1463040" y="27157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giving you a real problem</a:t>
            </a:r>
            <a:endParaRPr lang="en-US" sz="17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9D41D5D2-DBA2-C42C-F7FB-EC7E3E11E3AD}"/>
              </a:ext>
            </a:extLst>
          </p:cNvPr>
          <p:cNvSpPr/>
          <p:nvPr/>
        </p:nvSpPr>
        <p:spPr>
          <a:xfrm>
            <a:off x="5852160" y="271576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toy exercise. Something genuinely difficult to think about and try to solve.</a:t>
            </a:r>
            <a:endParaRPr lang="en-US" sz="1250" dirty="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ECEE8D71-A061-3F86-CB98-2427ABB3246B}"/>
              </a:ext>
            </a:extLst>
          </p:cNvPr>
          <p:cNvSpPr/>
          <p:nvPr/>
        </p:nvSpPr>
        <p:spPr>
          <a:xfrm>
            <a:off x="548640" y="4361688"/>
            <a:ext cx="11064240" cy="0"/>
          </a:xfrm>
          <a:prstGeom prst="line">
            <a:avLst/>
          </a:prstGeom>
          <a:noFill/>
          <a:ln w="12700">
            <a:solidFill>
              <a:srgbClr val="1E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1959FCD9-4281-41D3-9065-B0C2E321AEC4}"/>
              </a:ext>
            </a:extLst>
          </p:cNvPr>
          <p:cNvSpPr/>
          <p:nvPr/>
        </p:nvSpPr>
        <p:spPr>
          <a:xfrm>
            <a:off x="548640" y="345005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3D2A2BE5-1AB5-633A-E9F7-75C4E42F3B68}"/>
              </a:ext>
            </a:extLst>
          </p:cNvPr>
          <p:cNvSpPr/>
          <p:nvPr/>
        </p:nvSpPr>
        <p:spPr>
          <a:xfrm>
            <a:off x="1463040" y="364845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You'll learn to diagnose a strategy</a:t>
            </a:r>
            <a:endParaRPr lang="en-US" sz="17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0BE3C3A1-CD69-907C-40BF-29E159AC1ACF}"/>
              </a:ext>
            </a:extLst>
          </p:cNvPr>
          <p:cNvSpPr/>
          <p:nvPr/>
        </p:nvSpPr>
        <p:spPr>
          <a:xfrm>
            <a:off x="5852160" y="364845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whether it works — but why it doesn't. That's the difference between a real edge and a lucky run.</a:t>
            </a:r>
            <a:endParaRPr lang="en-US" sz="1250" dirty="0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053FFDBB-6D9E-401C-D340-64F6C0E4E423}"/>
              </a:ext>
            </a:extLst>
          </p:cNvPr>
          <p:cNvSpPr/>
          <p:nvPr/>
        </p:nvSpPr>
        <p:spPr>
          <a:xfrm>
            <a:off x="548640" y="5294376"/>
            <a:ext cx="11064240" cy="0"/>
          </a:xfrm>
          <a:prstGeom prst="line">
            <a:avLst/>
          </a:prstGeom>
          <a:noFill/>
          <a:ln w="12700">
            <a:solidFill>
              <a:srgbClr val="1E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4FBD228F-B23C-5F56-8E9E-C034676B5749}"/>
              </a:ext>
            </a:extLst>
          </p:cNvPr>
          <p:cNvSpPr/>
          <p:nvPr/>
        </p:nvSpPr>
        <p:spPr>
          <a:xfrm>
            <a:off x="548640" y="438273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4D06277B-31BB-B2A5-8527-0ACCD83536CD}"/>
              </a:ext>
            </a:extLst>
          </p:cNvPr>
          <p:cNvSpPr/>
          <p:nvPr/>
        </p:nvSpPr>
        <p:spPr>
          <a:xfrm>
            <a:off x="1463040" y="458114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skill outlives the internship</a:t>
            </a:r>
            <a:endParaRPr lang="en-US" sz="17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E2BFDDAB-D491-781F-0F78-0DD03FDA1A7D}"/>
              </a:ext>
            </a:extLst>
          </p:cNvPr>
          <p:cNvSpPr/>
          <p:nvPr/>
        </p:nvSpPr>
        <p:spPr>
          <a:xfrm>
            <a:off x="5852160" y="458114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understanding markets is something you'll keep using for the rest of your career.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2B276-174D-03AB-A501-835F0CEC9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619ACC9-4631-1531-DAC0-E31F10F82A49}"/>
              </a:ext>
            </a:extLst>
          </p:cNvPr>
          <p:cNvSpPr/>
          <p:nvPr/>
        </p:nvSpPr>
        <p:spPr>
          <a:xfrm>
            <a:off x="5166360" y="1417320"/>
            <a:ext cx="1280160" cy="128016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9CECF33C-659C-970D-346A-502652FA7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202" y="1750162"/>
            <a:ext cx="614477" cy="614477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6DF696E0-244F-A8D2-5C0E-6CBE501872CC}"/>
              </a:ext>
            </a:extLst>
          </p:cNvPr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see you as seeds.</a:t>
            </a:r>
            <a:endParaRPr lang="en-US" sz="3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690EE67-A46D-F29B-CC16-BBE799C4E767}"/>
              </a:ext>
            </a:extLst>
          </p:cNvPr>
          <p:cNvSpPr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ones who will reshape Egypt's stock market.</a:t>
            </a:r>
            <a:endParaRPr lang="en-US" sz="20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A91E959-D55C-E12D-6D2F-EAEA90108B8F}"/>
              </a:ext>
            </a:extLst>
          </p:cNvPr>
          <p:cNvSpPr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totally new segment of participants — with the power to actually change it.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5310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914400" cy="91440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692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777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weeks.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11827"/>
          </a:solidFill>
          <a:ln w="12700">
            <a:solidFill>
              <a:srgbClr val="1E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market. Build the engine.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Indicators, a real strategy, honest backtesting — and your own dashboard.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11827"/>
          </a:solidFill>
          <a:ln w="12700">
            <a:solidFill>
              <a:srgbClr val="1E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1772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9260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Prediction, and why it's harder than it looks.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177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the pivot, and Modern Portfolio Theory.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3816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11827"/>
          </a:solidFill>
          <a:ln w="12700">
            <a:solidFill>
              <a:srgbClr val="1E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1248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12480" y="29260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learns.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1248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— build something that adapts on its own.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2011680"/>
            <a:ext cx="1280160" cy="12801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202" y="2344522"/>
            <a:ext cx="614477" cy="6144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520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see it in action.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THE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692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777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set up.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280160" y="2322576"/>
            <a:ext cx="4101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is installed and open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931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80160" y="3877056"/>
            <a:ext cx="4101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is cloned to your machine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47091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280160" y="4654296"/>
            <a:ext cx="4101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added as a GitHub contributor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54864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80160" y="5431536"/>
            <a:ext cx="4101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any AI</a:t>
            </a:r>
            <a:endParaRPr lang="en-US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066F283-FAFF-B486-B324-0735A0AE89C2}"/>
              </a:ext>
            </a:extLst>
          </p:cNvPr>
          <p:cNvSpPr/>
          <p:nvPr/>
        </p:nvSpPr>
        <p:spPr>
          <a:xfrm>
            <a:off x="640080" y="315468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F558C7F-5586-FA3D-A1B8-6A642079679F}"/>
              </a:ext>
            </a:extLst>
          </p:cNvPr>
          <p:cNvSpPr/>
          <p:nvPr/>
        </p:nvSpPr>
        <p:spPr>
          <a:xfrm>
            <a:off x="1280160" y="3099816"/>
            <a:ext cx="4101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installed</a:t>
            </a:r>
            <a:endParaRPr lang="en-US" sz="18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8AD368E8-D2FB-EE3C-E112-DDD60E9E120A}"/>
              </a:ext>
            </a:extLst>
          </p:cNvPr>
          <p:cNvSpPr/>
          <p:nvPr/>
        </p:nvSpPr>
        <p:spPr>
          <a:xfrm>
            <a:off x="7669530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FA8EE9E-26D7-F8EB-A59C-1BDD02F32525}"/>
              </a:ext>
            </a:extLst>
          </p:cNvPr>
          <p:cNvSpPr/>
          <p:nvPr/>
        </p:nvSpPr>
        <p:spPr>
          <a:xfrm>
            <a:off x="8309610" y="2193417"/>
            <a:ext cx="3148965" cy="1363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material: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learn\01-stock-market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learn\02-algo-trading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2011680"/>
            <a:ext cx="1280160" cy="128016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202" y="2344522"/>
            <a:ext cx="614477" cy="6144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520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begin.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4572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EFG HOLDING  ·  DATA SCIENCE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441</Words>
  <Application>Microsoft Office PowerPoint</Application>
  <PresentationFormat>Widescreen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Raslan, Ahmed</cp:lastModifiedBy>
  <cp:revision>14</cp:revision>
  <dcterms:created xsi:type="dcterms:W3CDTF">2026-08-01T11:03:33Z</dcterms:created>
  <dcterms:modified xsi:type="dcterms:W3CDTF">2026-08-01T15:57:09Z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f0cd77-92b6-43b5-be4e-5947453e124f_Enabled">
    <vt:lpwstr>true</vt:lpwstr>
  </property>
  <property fmtid="{D5CDD505-2E9C-101B-9397-08002B2CF9AE}" pid="3" name="MSIP_Label_a6f0cd77-92b6-43b5-be4e-5947453e124f_SetDate">
    <vt:lpwstr>2026-08-01T11:19:33Z</vt:lpwstr>
  </property>
  <property fmtid="{D5CDD505-2E9C-101B-9397-08002B2CF9AE}" pid="4" name="MSIP_Label_a6f0cd77-92b6-43b5-be4e-5947453e124f_Method">
    <vt:lpwstr>Standard</vt:lpwstr>
  </property>
  <property fmtid="{D5CDD505-2E9C-101B-9397-08002B2CF9AE}" pid="5" name="MSIP_Label_a6f0cd77-92b6-43b5-be4e-5947453e124f_Name">
    <vt:lpwstr>EFGH_Confidential</vt:lpwstr>
  </property>
  <property fmtid="{D5CDD505-2E9C-101B-9397-08002B2CF9AE}" pid="6" name="MSIP_Label_a6f0cd77-92b6-43b5-be4e-5947453e124f_SiteId">
    <vt:lpwstr>0d301d27-a051-41b8-b1ac-6de8b154a76e</vt:lpwstr>
  </property>
  <property fmtid="{D5CDD505-2E9C-101B-9397-08002B2CF9AE}" pid="7" name="MSIP_Label_a6f0cd77-92b6-43b5-be4e-5947453e124f_ActionId">
    <vt:lpwstr>5a248873-7a52-43f3-ae19-a0c9e93b426f</vt:lpwstr>
  </property>
  <property fmtid="{D5CDD505-2E9C-101B-9397-08002B2CF9AE}" pid="8" name="MSIP_Label_a6f0cd77-92b6-43b5-be4e-5947453e124f_ContentBits">
    <vt:lpwstr>0</vt:lpwstr>
  </property>
  <property fmtid="{D5CDD505-2E9C-101B-9397-08002B2CF9AE}" pid="9" name="MSIP_Label_a6f0cd77-92b6-43b5-be4e-5947453e124f_Tag">
    <vt:lpwstr>10, 3, 0, 1</vt:lpwstr>
  </property>
</Properties>
</file>