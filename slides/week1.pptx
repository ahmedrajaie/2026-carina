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30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9007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280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TOMORROW · DAY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155700"/>
            <a:ext cx="1371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dirty="0">
                <a:solidFill>
                  <a:srgbClr val="050505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HOW THE MARKET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dirty="0">
                <a:solidFill>
                  <a:srgbClr val="050505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MEASURES ITSELF.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3332480"/>
            <a:ext cx="1600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8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market needs a scoreboard. In Egypt, that's </a:t>
            </a:r>
            <a:r>
              <a:rPr lang="en-US" sz="2800" b="1" dirty="0">
                <a:solidFill>
                  <a:srgbClr val="5B3D8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EGX30</a:t>
            </a:r>
            <a:r>
              <a:rPr lang="en-US" sz="28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the 30 largest, most liquid companies listed on the exchange.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4417060"/>
            <a:ext cx="1600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strategy you build this internship gets judged against this number.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5194300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D05A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7" name="Text 5"/>
          <p:cNvSpPr/>
          <p:nvPr/>
        </p:nvSpPr>
        <p:spPr>
          <a:xfrm>
            <a:off x="1097280" y="51943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50505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THIS INTERNSHIP, WE'RE TRYING TO BEAT IT.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6657340"/>
            <a:ext cx="16002000" cy="45720"/>
          </a:xfrm>
          <a:prstGeom prst="roundRect">
            <a:avLst>
              <a:gd name="adj" fmla="val 40000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9" name="Text 7"/>
          <p:cNvSpPr/>
          <p:nvPr/>
        </p:nvSpPr>
        <p:spPr>
          <a:xfrm>
            <a:off x="822960" y="68859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WEEK'S FOCUS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960" y="72263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D91E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37360" y="74803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5050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engineering, first.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680960" y="73533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Before any model or strategy — the right inputs. True of every data science problem, not just this one.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960" y="80035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D91E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37360" y="82575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5050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algorithm looks for two things.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680960" y="82575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to get in. When to get out. Everything else serves those two questions.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960" y="87807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D91E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37360" y="90347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5050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Reliable is not the same as profitable-looking.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680960" y="89331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management and diversification. A strategy that wins once on lucky data isn't reliable — that distinction matters all internship.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7099280" y="98298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/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A4C7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280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5050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TOMORROW · DAY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371600"/>
            <a:ext cx="1371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dirty="0">
                <a:solidFill>
                  <a:srgbClr val="050505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GET SET UP.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dirty="0">
                <a:solidFill>
                  <a:srgbClr val="050505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THEN GO BUILD.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354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5050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ENVIRONMENT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414934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6" name="Text 4"/>
          <p:cNvSpPr/>
          <p:nvPr/>
        </p:nvSpPr>
        <p:spPr>
          <a:xfrm>
            <a:off x="1280160" y="4094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5050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TradingView.com — charts, indicators, drawings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501243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8" name="Text 6"/>
          <p:cNvSpPr/>
          <p:nvPr/>
        </p:nvSpPr>
        <p:spPr>
          <a:xfrm>
            <a:off x="1280160" y="495757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5050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VS Code walkthrough: Debug, Source Control, Extensions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22960" y="571042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0" name="Text 8"/>
          <p:cNvSpPr/>
          <p:nvPr/>
        </p:nvSpPr>
        <p:spPr>
          <a:xfrm>
            <a:off x="1280160" y="565556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5050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 week1/01-setup-and-data, run the first notebook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22960" y="639572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2" name="Text 10"/>
          <p:cNvSpPr/>
          <p:nvPr/>
        </p:nvSpPr>
        <p:spPr>
          <a:xfrm>
            <a:off x="1280160" y="634085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5050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debug mode — step inside every function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704291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4" name="Text 12"/>
          <p:cNvSpPr/>
          <p:nvPr/>
        </p:nvSpPr>
        <p:spPr>
          <a:xfrm>
            <a:off x="1280160" y="6988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5050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Read: learn/01-stock-market, learn/02-algo-trading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77240" y="7859268"/>
            <a:ext cx="7680960" cy="2011680"/>
          </a:xfrm>
          <a:prstGeom prst="roundRect">
            <a:avLst>
              <a:gd name="adj" fmla="val 3636"/>
            </a:avLst>
          </a:prstGeom>
          <a:solidFill>
            <a:srgbClr val="0505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51560" y="8042148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D0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Notebooks 1 &amp; 2</a:t>
            </a:r>
            <a:r>
              <a:rPr lang="en-US" sz="2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plus their extensions.
Then, on your own: implement </a:t>
            </a:r>
            <a:r>
              <a:rPr lang="en-US" sz="2000" b="1" dirty="0">
                <a:solidFill>
                  <a:srgbClr val="FFD0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MACD</a:t>
            </a:r>
            <a:r>
              <a:rPr lang="en-US" sz="2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Read the real definition first — link below — then build it.</a:t>
            </a:r>
            <a:endParaRPr lang="en-US" sz="2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6A2D31B-D58D-4E54-FC4A-1209B3655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4215" y="2707735"/>
            <a:ext cx="8686565" cy="5121465"/>
          </a:xfrm>
          <a:prstGeom prst="rect">
            <a:avLst/>
          </a:prstGeom>
        </p:spPr>
      </p:pic>
      <p:sp>
        <p:nvSpPr>
          <p:cNvPr id="15" name="Shape 3">
            <a:extLst>
              <a:ext uri="{FF2B5EF4-FFF2-40B4-BE49-F238E27FC236}">
                <a16:creationId xmlns:a16="http://schemas.microsoft.com/office/drawing/2014/main" id="{EB330F8D-D40A-429E-E66E-15C435FCF358}"/>
              </a:ext>
            </a:extLst>
          </p:cNvPr>
          <p:cNvSpPr/>
          <p:nvPr/>
        </p:nvSpPr>
        <p:spPr>
          <a:xfrm>
            <a:off x="9144000" y="84937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8893A7D7-F6D4-E44B-39FF-3695A95663C6}"/>
              </a:ext>
            </a:extLst>
          </p:cNvPr>
          <p:cNvSpPr/>
          <p:nvPr/>
        </p:nvSpPr>
        <p:spPr>
          <a:xfrm>
            <a:off x="9601200" y="7945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5050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 </a:t>
            </a:r>
            <a:r>
              <a:rPr lang="en-US" sz="2400">
                <a:solidFill>
                  <a:srgbClr val="05050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market: EFG Hermes ONE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</Words>
  <Application>Microsoft Office PowerPoint</Application>
  <PresentationFormat>Custom</PresentationFormat>
  <Paragraphs>30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Anton</vt:lpstr>
      <vt:lpstr>Arial</vt:lpstr>
      <vt:lpstr>Roboto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Raslan, Ahmed</cp:lastModifiedBy>
  <cp:revision>3</cp:revision>
  <dcterms:created xsi:type="dcterms:W3CDTF">2026-08-02T21:21:44Z</dcterms:created>
  <dcterms:modified xsi:type="dcterms:W3CDTF">2026-08-03T05:59:18Z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6f0cd77-92b6-43b5-be4e-5947453e124f_Enabled">
    <vt:lpwstr>true</vt:lpwstr>
  </property>
  <property fmtid="{D5CDD505-2E9C-101B-9397-08002B2CF9AE}" pid="3" name="MSIP_Label_a6f0cd77-92b6-43b5-be4e-5947453e124f_SetDate">
    <vt:lpwstr>2026-08-02T21:35:09Z</vt:lpwstr>
  </property>
  <property fmtid="{D5CDD505-2E9C-101B-9397-08002B2CF9AE}" pid="4" name="MSIP_Label_a6f0cd77-92b6-43b5-be4e-5947453e124f_Method">
    <vt:lpwstr>Standard</vt:lpwstr>
  </property>
  <property fmtid="{D5CDD505-2E9C-101B-9397-08002B2CF9AE}" pid="5" name="MSIP_Label_a6f0cd77-92b6-43b5-be4e-5947453e124f_Name">
    <vt:lpwstr>EFGH_Confidential</vt:lpwstr>
  </property>
  <property fmtid="{D5CDD505-2E9C-101B-9397-08002B2CF9AE}" pid="6" name="MSIP_Label_a6f0cd77-92b6-43b5-be4e-5947453e124f_SiteId">
    <vt:lpwstr>0d301d27-a051-41b8-b1ac-6de8b154a76e</vt:lpwstr>
  </property>
  <property fmtid="{D5CDD505-2E9C-101B-9397-08002B2CF9AE}" pid="7" name="MSIP_Label_a6f0cd77-92b6-43b5-be4e-5947453e124f_ActionId">
    <vt:lpwstr>a817a960-a4a4-4178-8b76-8e45468e1d92</vt:lpwstr>
  </property>
  <property fmtid="{D5CDD505-2E9C-101B-9397-08002B2CF9AE}" pid="8" name="MSIP_Label_a6f0cd77-92b6-43b5-be4e-5947453e124f_ContentBits">
    <vt:lpwstr>0</vt:lpwstr>
  </property>
  <property fmtid="{D5CDD505-2E9C-101B-9397-08002B2CF9AE}" pid="9" name="MSIP_Label_a6f0cd77-92b6-43b5-be4e-5947453e124f_Tag">
    <vt:lpwstr>10, 3, 0, 1</vt:lpwstr>
  </property>
</Properties>
</file>